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Roboto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11" Type="http://schemas.openxmlformats.org/officeDocument/2006/relationships/slide" Target="slides/slide6.xml"/><Relationship Id="rId22" Type="http://schemas.openxmlformats.org/officeDocument/2006/relationships/font" Target="fonts/RobotoMono-boldItalic.fntdata"/><Relationship Id="rId10" Type="http://schemas.openxmlformats.org/officeDocument/2006/relationships/slide" Target="slides/slide5.xml"/><Relationship Id="rId21"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RobotoMon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atgpt.com/share/673a6dc4-3614-800a-8eb6-23917765831f"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c6f59039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c6f5903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shows performance and different factors of students from two schools in Portugal. We are looking at this data to try and uncover if certain variables have significant impact on student’s grades such as travel time, study time, number of failures, school support, family </a:t>
            </a:r>
            <a:r>
              <a:rPr lang="en"/>
              <a:t>support</a:t>
            </a:r>
            <a:r>
              <a:rPr lang="en"/>
              <a:t>, school activities, health, number of absences, compared to their overall grades. We are looking for the factors that have the most significant effect on absenteeism and grades.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5f77429fa_2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15f77429fa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As marketers, the question we want to answer from the data is: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What factors most influence student absenteeism and grade performance, and what products and services can decision-makers within education allocate their budget toward to improve student grades and attendance?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We will analyze correlations and regressions between different categories to unveil where there is significance, and then forecast performance based on highest and lowest attendances and grade performances.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59039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5903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snapshot of our dataset that merged the performances of both schools. </a:t>
            </a:r>
            <a:endParaRPr/>
          </a:p>
          <a:p>
            <a:pPr indent="0" lvl="0" marL="0" rtl="0" algn="l">
              <a:spcBef>
                <a:spcPts val="0"/>
              </a:spcBef>
              <a:spcAft>
                <a:spcPts val="0"/>
              </a:spcAft>
              <a:buNone/>
            </a:pPr>
            <a:r>
              <a:rPr lang="en"/>
              <a:t>The mean of total exam scores is 12; the median exam score is 12; the mode of exam scores is 11.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categorical data were converted to numerical standards, such as binary data like gender, and yes/no data including having family support, school support, or engaging in after-school activities.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formatted other data to reflect a range within travel and study time, number of previous failed classes and absences, and a rating for health.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537cfa82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537cfa8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t>
            </a:r>
            <a:r>
              <a:rPr lang="en"/>
              <a:t>the</a:t>
            </a:r>
            <a:r>
              <a:rPr lang="en"/>
              <a:t> multiple regression that was run we see an R-Square of .22. R-square represents the proportion of variance in the dependent variable explained by the independent variables. </a:t>
            </a:r>
            <a:r>
              <a:rPr b="1" lang="en">
                <a:solidFill>
                  <a:schemeClr val="dk1"/>
                </a:solidFill>
              </a:rPr>
              <a:t>Higher R-Square:</a:t>
            </a:r>
            <a:r>
              <a:rPr lang="en">
                <a:solidFill>
                  <a:schemeClr val="dk1"/>
                </a:solidFill>
              </a:rPr>
              <a:t> Indicates a better fit of the model to the data. This R-Square number is not significantly high.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Intercept is 11.78 revealing the dependent variables may not account for all nuances when it comes to student test scores–we may use this data to develop other insights to dependent variables to measure.</a:t>
            </a:r>
            <a:endParaRPr>
              <a:solidFill>
                <a:schemeClr val="dk1"/>
              </a:solidFill>
            </a:endParaRPr>
          </a:p>
          <a:p>
            <a:pPr indent="0" lvl="0" marL="0" rtl="0" algn="l">
              <a:spcBef>
                <a:spcPts val="0"/>
              </a:spcBef>
              <a:spcAft>
                <a:spcPts val="0"/>
              </a:spcAft>
              <a:buNone/>
            </a:pPr>
            <a:br>
              <a:rPr lang="en">
                <a:solidFill>
                  <a:schemeClr val="dk1"/>
                </a:solidFill>
              </a:rPr>
            </a:br>
            <a:r>
              <a:rPr lang="en">
                <a:solidFill>
                  <a:schemeClr val="dk1"/>
                </a:solidFill>
              </a:rPr>
              <a:t>Most of our P-values are in a significance range: &lt;0.05 with the exception of three (3) variables: famsup (.392), activities (.148), and absences (.312)</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537cfa821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537cfa82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analysis included six different plots showing the residuals of the model. The residuals were randomly scattered around zero without any strong patterns. This suggests that the model fits the data reasonably well, meaning there’s no clear need for corrections related to non-linearity or heteroscedasticity issues.</a:t>
            </a:r>
            <a:endParaRPr>
              <a:solidFill>
                <a:schemeClr val="dk1"/>
              </a:solidFill>
            </a:endParaRPr>
          </a:p>
          <a:p>
            <a:pPr indent="0" lvl="0" marL="0" rtl="0" algn="l">
              <a:lnSpc>
                <a:spcPct val="115000"/>
              </a:lnSpc>
              <a:spcBef>
                <a:spcPts val="0"/>
              </a:spcBef>
              <a:spcAft>
                <a:spcPts val="0"/>
              </a:spcAft>
              <a:buNone/>
            </a:pPr>
            <a:r>
              <a:rPr lang="en">
                <a:solidFill>
                  <a:schemeClr val="dk1"/>
                </a:solidFill>
              </a:rPr>
              <a:t>Overall, the data analysis indicates that multiple factors influence student grades, and the model used is capable of capturing the underlying trends adequately.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Famsup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 residuals appear somewhat randomly scattered around zero but do show some minor clustering and variation in spread at different levels of </a:t>
            </a:r>
            <a:r>
              <a:rPr lang="en">
                <a:solidFill>
                  <a:srgbClr val="188038"/>
                </a:solidFill>
                <a:latin typeface="Roboto Mono"/>
                <a:ea typeface="Roboto Mono"/>
                <a:cs typeface="Roboto Mono"/>
                <a:sym typeface="Roboto Mono"/>
              </a:rPr>
              <a:t>famsup</a:t>
            </a:r>
            <a:r>
              <a:rPr lang="en">
                <a:solidFill>
                  <a:schemeClr val="dk1"/>
                </a:solidFill>
              </a:rPr>
              <a:t>. While not showing a strong pattern, there is some mild unevenness in the spread, which might indicate slight heteroscedasticity.</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Failures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 residuals here also appear scattered around zero with a few slightly more dispersed points as </a:t>
            </a:r>
            <a:r>
              <a:rPr lang="en">
                <a:solidFill>
                  <a:srgbClr val="188038"/>
                </a:solidFill>
                <a:latin typeface="Roboto Mono"/>
                <a:ea typeface="Roboto Mono"/>
                <a:cs typeface="Roboto Mono"/>
                <a:sym typeface="Roboto Mono"/>
              </a:rPr>
              <a:t>failures</a:t>
            </a:r>
            <a:r>
              <a:rPr lang="en">
                <a:solidFill>
                  <a:schemeClr val="dk1"/>
                </a:solidFill>
              </a:rPr>
              <a:t> increases. The plot doesn’t show a clear pattern, which suggests a reasonable fit. However, there is minor spread in the residuals, which could be worth watching if it affects other predictors.</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Activities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 residuals for </a:t>
            </a:r>
            <a:r>
              <a:rPr lang="en">
                <a:solidFill>
                  <a:srgbClr val="188038"/>
                </a:solidFill>
                <a:latin typeface="Roboto Mono"/>
                <a:ea typeface="Roboto Mono"/>
                <a:cs typeface="Roboto Mono"/>
                <a:sym typeface="Roboto Mono"/>
              </a:rPr>
              <a:t>activities</a:t>
            </a:r>
            <a:r>
              <a:rPr lang="en">
                <a:solidFill>
                  <a:schemeClr val="dk1"/>
                </a:solidFill>
              </a:rPr>
              <a:t> are scattered reasonably around zero with no significant pattern. The spread of residuals looks fairly consistent across different levels of </a:t>
            </a:r>
            <a:r>
              <a:rPr lang="en">
                <a:solidFill>
                  <a:srgbClr val="188038"/>
                </a:solidFill>
                <a:latin typeface="Roboto Mono"/>
                <a:ea typeface="Roboto Mono"/>
                <a:cs typeface="Roboto Mono"/>
                <a:sym typeface="Roboto Mono"/>
              </a:rPr>
              <a:t>activities</a:t>
            </a:r>
            <a:r>
              <a:rPr lang="en">
                <a:solidFill>
                  <a:schemeClr val="dk1"/>
                </a:solidFill>
              </a:rPr>
              <a:t>, indicating that this predictor is likely behaving well in terms of linearity and homoscedasticity.</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Schoolsup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There’s a somewhat consistent spread of residuals around zero with no clear pattern, which is good. However, there are some slight fluctuations in spread as </a:t>
            </a:r>
            <a:r>
              <a:rPr lang="en">
                <a:solidFill>
                  <a:srgbClr val="188038"/>
                </a:solidFill>
                <a:latin typeface="Roboto Mono"/>
                <a:ea typeface="Roboto Mono"/>
                <a:cs typeface="Roboto Mono"/>
                <a:sym typeface="Roboto Mono"/>
              </a:rPr>
              <a:t>schoolsup</a:t>
            </a:r>
            <a:r>
              <a:rPr lang="en">
                <a:solidFill>
                  <a:schemeClr val="dk1"/>
                </a:solidFill>
              </a:rPr>
              <a:t> increases, but overall, the residuals don’t show a strong funnel shape or pattern. This suggests an acceptable fit.</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Health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 residuals for </a:t>
            </a:r>
            <a:r>
              <a:rPr lang="en">
                <a:solidFill>
                  <a:srgbClr val="188038"/>
                </a:solidFill>
                <a:latin typeface="Roboto Mono"/>
                <a:ea typeface="Roboto Mono"/>
                <a:cs typeface="Roboto Mono"/>
                <a:sym typeface="Roboto Mono"/>
              </a:rPr>
              <a:t>health</a:t>
            </a:r>
            <a:r>
              <a:rPr lang="en">
                <a:solidFill>
                  <a:schemeClr val="dk1"/>
                </a:solidFill>
              </a:rPr>
              <a:t> show a relatively random scatter around zero without an obvious trend or pattern. The spread of residuals seems consistent across values, suggesting homoscedasticity. This plot indicates that </a:t>
            </a:r>
            <a:r>
              <a:rPr lang="en">
                <a:solidFill>
                  <a:srgbClr val="188038"/>
                </a:solidFill>
                <a:latin typeface="Roboto Mono"/>
                <a:ea typeface="Roboto Mono"/>
                <a:cs typeface="Roboto Mono"/>
                <a:sym typeface="Roboto Mono"/>
              </a:rPr>
              <a:t>health</a:t>
            </a:r>
            <a:r>
              <a:rPr lang="en">
                <a:solidFill>
                  <a:schemeClr val="dk1"/>
                </a:solidFill>
              </a:rPr>
              <a:t> is likely a well-behaved predictor in the model.</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a:solidFill>
                  <a:schemeClr val="dk1"/>
                </a:solidFill>
              </a:rPr>
              <a:t>Absences Residual Plot</a:t>
            </a:r>
            <a:r>
              <a:rPr lang="en">
                <a:solidFill>
                  <a:schemeClr val="dk1"/>
                </a:solidFill>
              </a:rPr>
              <a:t>:</a:t>
            </a:r>
            <a:endParaRPr>
              <a:solidFill>
                <a:schemeClr val="dk1"/>
              </a:solidFill>
            </a:endParaRPr>
          </a:p>
          <a:p>
            <a:pPr indent="-298450" lvl="0" marL="457200" rtl="0" algn="l">
              <a:lnSpc>
                <a:spcPct val="100000"/>
              </a:lnSpc>
              <a:spcBef>
                <a:spcPts val="1200"/>
              </a:spcBef>
              <a:spcAft>
                <a:spcPts val="0"/>
              </a:spcAft>
              <a:buClr>
                <a:schemeClr val="dk1"/>
              </a:buClr>
              <a:buSzPts val="1100"/>
              <a:buChar char="●"/>
            </a:pPr>
            <a:r>
              <a:rPr lang="en">
                <a:solidFill>
                  <a:schemeClr val="dk1"/>
                </a:solidFill>
              </a:rPr>
              <a:t>The residuals for </a:t>
            </a:r>
            <a:r>
              <a:rPr lang="en">
                <a:solidFill>
                  <a:srgbClr val="188038"/>
                </a:solidFill>
                <a:latin typeface="Roboto Mono"/>
                <a:ea typeface="Roboto Mono"/>
                <a:cs typeface="Roboto Mono"/>
                <a:sym typeface="Roboto Mono"/>
              </a:rPr>
              <a:t>absences</a:t>
            </a:r>
            <a:r>
              <a:rPr lang="en">
                <a:solidFill>
                  <a:schemeClr val="dk1"/>
                </a:solidFill>
              </a:rPr>
              <a:t> appear randomly scattered around zero with no apparent pattern or trend. There is also a consistent spread, suggesting that this predictor likely satisfies the assumptions of linearity and homoscedasticity.</a:t>
            </a:r>
            <a:endParaRPr>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5e57f8a3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15e57f8a3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Failures had a strong negative correlation with grades. Students who had at least one prior failure tended to have lower scores compared to their peers.</a:t>
            </a:r>
            <a:endParaRPr/>
          </a:p>
          <a:p>
            <a:pPr indent="0" lvl="0" marL="0" rtl="0" algn="l">
              <a:lnSpc>
                <a:spcPct val="115000"/>
              </a:lnSpc>
              <a:spcBef>
                <a:spcPts val="0"/>
              </a:spcBef>
              <a:spcAft>
                <a:spcPts val="0"/>
              </a:spcAft>
              <a:buNone/>
            </a:pPr>
            <a:r>
              <a:rPr lang="en"/>
              <a:t>As the number of failures increased, the likelihood of achieving top scores significantly decreased. This trendline underscores the importance of providing targeted support for students who have previously failed to prevent further academic decline.</a:t>
            </a:r>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5f654f4e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5f654f4e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u="sng">
                <a:solidFill>
                  <a:schemeClr val="dk1"/>
                </a:solidFill>
              </a:rPr>
              <a:t>School Support &amp; Grades</a:t>
            </a:r>
            <a:r>
              <a:rPr lang="en">
                <a:solidFill>
                  <a:schemeClr val="dk1"/>
                </a:solidFill>
              </a:rPr>
              <a:t> - </a:t>
            </a:r>
            <a:r>
              <a:rPr lang="en">
                <a:solidFill>
                  <a:schemeClr val="dk1"/>
                </a:solidFill>
              </a:rPr>
              <a:t>The analysis shows that students who received school support generally performed better in their exams compared to those who did not. School support here refers to additional help provided by teachers or through specialized school programs aimed at helping students who need extra academic assistance.</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positive correlation suggests that when schools provide structured, targeted support systems, students have a greater chance of improving their grades and performing well academically. This emphasizes the importance of investing in educational support services, such as tutoring sessions, after-school programs, or counseling.</a:t>
            </a:r>
            <a:endParaRPr>
              <a:solidFill>
                <a:schemeClr val="dk1"/>
              </a:solidFill>
            </a:endParaRPr>
          </a:p>
          <a:p>
            <a:pPr indent="0" lvl="0" marL="0" rtl="0" algn="l">
              <a:lnSpc>
                <a:spcPct val="115000"/>
              </a:lnSpc>
              <a:spcBef>
                <a:spcPts val="0"/>
              </a:spcBef>
              <a:spcAft>
                <a:spcPts val="0"/>
              </a:spcAft>
              <a:buNone/>
            </a:pPr>
            <a:r>
              <a:rPr b="1" lang="en" u="sng">
                <a:solidFill>
                  <a:schemeClr val="dk1"/>
                </a:solidFill>
              </a:rPr>
              <a:t>Travel Time &amp; Grades </a:t>
            </a:r>
            <a:r>
              <a:rPr lang="en">
                <a:solidFill>
                  <a:schemeClr val="dk1"/>
                </a:solidFill>
              </a:rPr>
              <a:t>- The relationship between travel time and grades was found to be negatively correlated, with longer travel times impacting students' academic performance. This is likely because students with extended commute times have less available time for studying, completing assignments, and resting, all of which are crucial for good academic performance.</a:t>
            </a:r>
            <a:endParaRPr>
              <a:solidFill>
                <a:schemeClr val="dk1"/>
              </a:solidFill>
            </a:endParaRPr>
          </a:p>
          <a:p>
            <a:pPr indent="0" lvl="0" marL="0" rtl="0" algn="l">
              <a:lnSpc>
                <a:spcPct val="115000"/>
              </a:lnSpc>
              <a:spcBef>
                <a:spcPts val="0"/>
              </a:spcBef>
              <a:spcAft>
                <a:spcPts val="0"/>
              </a:spcAft>
              <a:buNone/>
            </a:pPr>
            <a:r>
              <a:rPr lang="en">
                <a:solidFill>
                  <a:schemeClr val="dk1"/>
                </a:solidFill>
              </a:rPr>
              <a:t>Students spending more than four hours commuting face the greatest challenges, as the long travel reduces the time they can dedicate to schoolwork and also affects their overall energy and focus during school hours.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scatter plot showed some outliers, indicating that while most students experienced reduced academic performance with longer travel, a few students were able to manage long commutes without a severe impact. Understanding what enables these outliers to perform well (e.g., better time management, supportive environments) might provide additional insight.</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5e57f8a3a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5e57f8a3a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Chat GPT link- </a:t>
            </a:r>
            <a:r>
              <a:rPr lang="en" u="sng">
                <a:solidFill>
                  <a:schemeClr val="hlink"/>
                </a:solidFill>
                <a:hlinkClick r:id="rId2"/>
              </a:rPr>
              <a:t>https://chatgpt.com/share/673a6dc4-3614-800a-8eb6-23917765831f</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heatmap helps visualize which factors have the most and least influence on student grades, providing a clear overview of where efforts to improve student outcomes might be most effective.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Study Time</a:t>
            </a:r>
            <a:r>
              <a:rPr lang="en">
                <a:solidFill>
                  <a:schemeClr val="dk1"/>
                </a:solidFill>
              </a:rPr>
              <a:t> has a </a:t>
            </a:r>
            <a:r>
              <a:rPr b="1" lang="en">
                <a:solidFill>
                  <a:schemeClr val="dk1"/>
                </a:solidFill>
              </a:rPr>
              <a:t>positive correlation</a:t>
            </a:r>
            <a:r>
              <a:rPr lang="en">
                <a:solidFill>
                  <a:schemeClr val="dk1"/>
                </a:solidFill>
              </a:rPr>
              <a:t> with grades (</a:t>
            </a:r>
            <a:r>
              <a:rPr lang="en">
                <a:solidFill>
                  <a:srgbClr val="188038"/>
                </a:solidFill>
                <a:latin typeface="Roboto Mono"/>
                <a:ea typeface="Roboto Mono"/>
                <a:cs typeface="Roboto Mono"/>
                <a:sym typeface="Roboto Mono"/>
              </a:rPr>
              <a:t>0.25</a:t>
            </a:r>
            <a:r>
              <a:rPr lang="en">
                <a:solidFill>
                  <a:schemeClr val="dk1"/>
                </a:solidFill>
              </a:rPr>
              <a:t>), reinforcing our earlier findings that more study time is linked to better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Failures</a:t>
            </a:r>
            <a:r>
              <a:rPr lang="en">
                <a:solidFill>
                  <a:schemeClr val="dk1"/>
                </a:solidFill>
              </a:rPr>
              <a:t> show the strongest </a:t>
            </a:r>
            <a:r>
              <a:rPr b="1" lang="en">
                <a:solidFill>
                  <a:schemeClr val="dk1"/>
                </a:solidFill>
              </a:rPr>
              <a:t>negative correlation</a:t>
            </a:r>
            <a:r>
              <a:rPr lang="en">
                <a:solidFill>
                  <a:schemeClr val="dk1"/>
                </a:solidFill>
              </a:rPr>
              <a:t> with grades (</a:t>
            </a:r>
            <a:r>
              <a:rPr lang="en">
                <a:solidFill>
                  <a:srgbClr val="188038"/>
                </a:solidFill>
                <a:latin typeface="Roboto Mono"/>
                <a:ea typeface="Roboto Mono"/>
                <a:cs typeface="Roboto Mono"/>
                <a:sym typeface="Roboto Mono"/>
              </a:rPr>
              <a:t>-0.39</a:t>
            </a:r>
            <a:r>
              <a:rPr lang="en">
                <a:solidFill>
                  <a:schemeClr val="dk1"/>
                </a:solidFill>
              </a:rPr>
              <a:t>), indicating that past failures significantly decrease academic outcomes.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Travel Time</a:t>
            </a:r>
            <a:r>
              <a:rPr lang="en">
                <a:solidFill>
                  <a:schemeClr val="dk1"/>
                </a:solidFill>
              </a:rPr>
              <a:t> and </a:t>
            </a:r>
            <a:r>
              <a:rPr b="1" lang="en">
                <a:solidFill>
                  <a:schemeClr val="dk1"/>
                </a:solidFill>
              </a:rPr>
              <a:t>Sex</a:t>
            </a:r>
            <a:r>
              <a:rPr lang="en">
                <a:solidFill>
                  <a:schemeClr val="dk1"/>
                </a:solidFill>
              </a:rPr>
              <a:t> also have slight negative correlations with grades (</a:t>
            </a:r>
            <a:r>
              <a:rPr lang="en">
                <a:solidFill>
                  <a:srgbClr val="188038"/>
                </a:solidFill>
                <a:latin typeface="Roboto Mono"/>
                <a:ea typeface="Roboto Mono"/>
                <a:cs typeface="Roboto Mono"/>
                <a:sym typeface="Roboto Mono"/>
              </a:rPr>
              <a:t>-0.13</a:t>
            </a:r>
            <a:r>
              <a:rPr lang="en">
                <a:solidFill>
                  <a:schemeClr val="dk1"/>
                </a:solidFill>
              </a:rPr>
              <a:t> each), suggesting that gender and longer commutes can be factors affecting student success.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School Support</a:t>
            </a:r>
            <a:r>
              <a:rPr lang="en">
                <a:solidFill>
                  <a:schemeClr val="dk1"/>
                </a:solidFill>
              </a:rPr>
              <a:t> shows a small positive correlation (</a:t>
            </a:r>
            <a:r>
              <a:rPr lang="en">
                <a:solidFill>
                  <a:srgbClr val="188038"/>
                </a:solidFill>
                <a:latin typeface="Roboto Mono"/>
                <a:ea typeface="Roboto Mono"/>
                <a:cs typeface="Roboto Mono"/>
                <a:sym typeface="Roboto Mono"/>
              </a:rPr>
              <a:t>0.066</a:t>
            </a:r>
            <a:r>
              <a:rPr lang="en">
                <a:solidFill>
                  <a:schemeClr val="dk1"/>
                </a:solidFill>
              </a:rPr>
              <a:t>), indicating that students who receive additional support generally perform better, though the effect is modest.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MLR analysis from chatgpt explains that about 22.9% of the variation in grades, which means some factors that impact student performance may still be unaccounted for. The </a:t>
            </a:r>
            <a:r>
              <a:rPr b="1" lang="en">
                <a:solidFill>
                  <a:schemeClr val="dk1"/>
                </a:solidFill>
              </a:rPr>
              <a:t>Mean Squared Error</a:t>
            </a:r>
            <a:r>
              <a:rPr lang="en">
                <a:solidFill>
                  <a:schemeClr val="dk1"/>
                </a:solidFill>
              </a:rPr>
              <a:t> is 8.26, indicating the average deviation between predicted and actual grades.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identified </a:t>
            </a:r>
            <a:r>
              <a:rPr b="1" lang="en">
                <a:solidFill>
                  <a:schemeClr val="dk1"/>
                </a:solidFill>
              </a:rPr>
              <a:t>four significant predictors</a:t>
            </a:r>
            <a:r>
              <a:rPr lang="en">
                <a:solidFill>
                  <a:schemeClr val="dk1"/>
                </a:solidFill>
              </a:rPr>
              <a:t> of student performance: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Study Time</a:t>
            </a:r>
            <a:r>
              <a:rPr lang="en">
                <a:solidFill>
                  <a:schemeClr val="dk1"/>
                </a:solidFill>
              </a:rPr>
              <a:t> has a positive impact on grades—more study time correlates with higher grades.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Failures</a:t>
            </a:r>
            <a:r>
              <a:rPr lang="en">
                <a:solidFill>
                  <a:schemeClr val="dk1"/>
                </a:solidFill>
              </a:rPr>
              <a:t> have a strong negative impact—students who failed before tend to have lower scores.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Travel Time</a:t>
            </a:r>
            <a:r>
              <a:rPr lang="en">
                <a:solidFill>
                  <a:schemeClr val="dk1"/>
                </a:solidFill>
              </a:rPr>
              <a:t> also negatively impacts performance—longer commutes lead to lower grades.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School Support</a:t>
            </a:r>
            <a:r>
              <a:rPr lang="en">
                <a:solidFill>
                  <a:schemeClr val="dk1"/>
                </a:solidFill>
              </a:rPr>
              <a:t> positively affects grades, highlighting the importance of school resources in boosting academic success.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5e57f8a3a_1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5e57f8a3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Support After Failure</a:t>
            </a:r>
            <a:r>
              <a:rPr lang="en">
                <a:solidFill>
                  <a:schemeClr val="dk1"/>
                </a:solidFill>
              </a:rPr>
              <a:t>: Allocate extra resources for students who fail in the first quarter to ensure they get the help they need in the second quarter. This can help them catch up and prevent them from falling further behind.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Extra School Support</a:t>
            </a:r>
            <a:r>
              <a:rPr lang="en">
                <a:solidFill>
                  <a:schemeClr val="dk1"/>
                </a:solidFill>
              </a:rPr>
              <a:t>: Providing additional support through in-school study programs can have a significant positive impact on grades. Schools should invest in tutoring programs and support services to assist struggling students.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Improved School Access</a:t>
            </a:r>
            <a:r>
              <a:rPr lang="en">
                <a:solidFill>
                  <a:schemeClr val="dk1"/>
                </a:solidFill>
              </a:rPr>
              <a:t>: Partnering with local transportation providers to improve access to schools can help reduce the negative impact of long commutes on student performance.</a:t>
            </a:r>
            <a:endParaRPr>
              <a:solidFill>
                <a:schemeClr val="dk1"/>
              </a:solidFill>
            </a:endParaRPr>
          </a:p>
          <a:p>
            <a:pPr indent="0" lvl="0" marL="0" rtl="0" algn="l">
              <a:lnSpc>
                <a:spcPct val="115000"/>
              </a:lnSpc>
              <a:spcBef>
                <a:spcPts val="0"/>
              </a:spcBef>
              <a:spcAft>
                <a:spcPts val="0"/>
              </a:spcAft>
              <a:buNone/>
            </a:pPr>
            <a:r>
              <a:rPr b="1" lang="en">
                <a:solidFill>
                  <a:schemeClr val="dk1"/>
                </a:solidFill>
              </a:rPr>
              <a:t>Flexible Hybrid Learning Model</a:t>
            </a:r>
            <a:r>
              <a:rPr lang="en">
                <a:solidFill>
                  <a:schemeClr val="dk1"/>
                </a:solidFill>
              </a:rPr>
              <a:t>: For students with a commute time of four hours or more, a hybrid learning model may help alleviate some of the challenges related to travel and give them more time to focus on their studies.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Based on these recommendations, we asked AI to see if it can predict future grades if the above suggestions are applied. The histogram shows the distribution of grades before and after the interventions. The predicted grades (green) are shifted slightly to the right, indicating an overall improvement in grades after the suggested changes were implemented.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35875"/>
            <a:ext cx="81837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Student Performance Analysis</a:t>
            </a:r>
            <a:endParaRPr/>
          </a:p>
        </p:txBody>
      </p:sp>
      <p:sp>
        <p:nvSpPr>
          <p:cNvPr id="59" name="Google Shape;59;p13"/>
          <p:cNvSpPr txBox="1"/>
          <p:nvPr>
            <p:ph idx="1" type="subTitle"/>
          </p:nvPr>
        </p:nvSpPr>
        <p:spPr>
          <a:xfrm>
            <a:off x="1143150" y="2798300"/>
            <a:ext cx="6857700" cy="213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chemeClr val="lt1"/>
                </a:solidFill>
                <a:latin typeface="Times New Roman"/>
                <a:ea typeface="Times New Roman"/>
                <a:cs typeface="Times New Roman"/>
                <a:sym typeface="Times New Roman"/>
              </a:rPr>
              <a:t>Our data shows high school student performance between two schools in Portugal. Both schools had very similar grade outcomes, so we decided to use the data from both schools to determine what factors contribute most to student absenteeism and grad</a:t>
            </a:r>
            <a:r>
              <a:rPr b="1" lang="en" sz="2200">
                <a:solidFill>
                  <a:schemeClr val="lt1"/>
                </a:solidFill>
                <a:latin typeface="Times New Roman"/>
                <a:ea typeface="Times New Roman"/>
                <a:cs typeface="Times New Roman"/>
                <a:sym typeface="Times New Roman"/>
              </a:rPr>
              <a:t>es.</a:t>
            </a:r>
            <a:endParaRPr b="1" sz="2200">
              <a:solidFill>
                <a:schemeClr val="lt1"/>
              </a:solidFill>
              <a:latin typeface="Times New Roman"/>
              <a:ea typeface="Times New Roman"/>
              <a:cs typeface="Times New Roman"/>
              <a:sym typeface="Times New Roman"/>
            </a:endParaRPr>
          </a:p>
        </p:txBody>
      </p:sp>
      <p:sp>
        <p:nvSpPr>
          <p:cNvPr id="60" name="Google Shape;60;p13"/>
          <p:cNvSpPr txBox="1"/>
          <p:nvPr/>
        </p:nvSpPr>
        <p:spPr>
          <a:xfrm>
            <a:off x="2252425" y="1759025"/>
            <a:ext cx="4650600" cy="92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lang="en" sz="1800">
                <a:solidFill>
                  <a:schemeClr val="dk2"/>
                </a:solidFill>
              </a:rPr>
              <a:t>Group 10 - An Hu, Jason Obiechefu, Moksha Shah</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85400" y="876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Marketing Question:</a:t>
            </a:r>
            <a:endParaRPr/>
          </a:p>
        </p:txBody>
      </p:sp>
      <p:sp>
        <p:nvSpPr>
          <p:cNvPr id="66" name="Google Shape;66;p14"/>
          <p:cNvSpPr txBox="1"/>
          <p:nvPr/>
        </p:nvSpPr>
        <p:spPr>
          <a:xfrm>
            <a:off x="137350" y="873300"/>
            <a:ext cx="8585400" cy="81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900">
                <a:solidFill>
                  <a:schemeClr val="dk2"/>
                </a:solidFill>
                <a:latin typeface="Times New Roman"/>
                <a:ea typeface="Times New Roman"/>
                <a:cs typeface="Times New Roman"/>
                <a:sym typeface="Times New Roman"/>
              </a:rPr>
              <a:t>What products or services can decision-makers within education allocate their budget towards to improve student grades and attendance?</a:t>
            </a:r>
            <a:endParaRPr b="1" sz="1900">
              <a:solidFill>
                <a:schemeClr val="dk2"/>
              </a:solidFill>
              <a:latin typeface="Times New Roman"/>
              <a:ea typeface="Times New Roman"/>
              <a:cs typeface="Times New Roman"/>
              <a:sym typeface="Times New Roman"/>
            </a:endParaRPr>
          </a:p>
        </p:txBody>
      </p:sp>
      <p:sp>
        <p:nvSpPr>
          <p:cNvPr id="67" name="Google Shape;67;p14"/>
          <p:cNvSpPr txBox="1"/>
          <p:nvPr>
            <p:ph type="title"/>
          </p:nvPr>
        </p:nvSpPr>
        <p:spPr>
          <a:xfrm>
            <a:off x="137350" y="1877263"/>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Sub-Questions:</a:t>
            </a:r>
            <a:endParaRPr/>
          </a:p>
        </p:txBody>
      </p:sp>
      <p:sp>
        <p:nvSpPr>
          <p:cNvPr id="68" name="Google Shape;68;p14"/>
          <p:cNvSpPr txBox="1"/>
          <p:nvPr/>
        </p:nvSpPr>
        <p:spPr>
          <a:xfrm>
            <a:off x="201500" y="2396125"/>
            <a:ext cx="8749500" cy="2312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t/>
            </a:r>
            <a:endParaRPr b="1" sz="1900">
              <a:solidFill>
                <a:schemeClr val="lt1"/>
              </a:solidFill>
              <a:latin typeface="Times New Roman"/>
              <a:ea typeface="Times New Roman"/>
              <a:cs typeface="Times New Roman"/>
              <a:sym typeface="Times New Roman"/>
            </a:endParaRPr>
          </a:p>
          <a:p>
            <a:pPr indent="-349250" lvl="0" marL="457200" rtl="0" algn="l">
              <a:lnSpc>
                <a:spcPct val="115000"/>
              </a:lnSpc>
              <a:spcBef>
                <a:spcPts val="1200"/>
              </a:spcBef>
              <a:spcAft>
                <a:spcPts val="0"/>
              </a:spcAft>
              <a:buClr>
                <a:schemeClr val="lt1"/>
              </a:buClr>
              <a:buSzPts val="1900"/>
              <a:buFont typeface="Times New Roman"/>
              <a:buAutoNum type="arabicPeriod"/>
            </a:pPr>
            <a:r>
              <a:rPr b="1" lang="en" sz="1900">
                <a:solidFill>
                  <a:schemeClr val="lt1"/>
                </a:solidFill>
                <a:latin typeface="Times New Roman"/>
                <a:ea typeface="Times New Roman"/>
                <a:cs typeface="Times New Roman"/>
                <a:sym typeface="Times New Roman"/>
              </a:rPr>
              <a:t>What factor has the biggest effect on grade performance?</a:t>
            </a:r>
            <a:endParaRPr b="1" sz="1900">
              <a:solidFill>
                <a:schemeClr val="lt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lt1"/>
              </a:buClr>
              <a:buSzPts val="1900"/>
              <a:buFont typeface="Times New Roman"/>
              <a:buAutoNum type="arabicPeriod"/>
            </a:pPr>
            <a:r>
              <a:rPr b="1" lang="en" sz="1900">
                <a:solidFill>
                  <a:schemeClr val="lt1"/>
                </a:solidFill>
                <a:latin typeface="Times New Roman"/>
                <a:ea typeface="Times New Roman"/>
                <a:cs typeface="Times New Roman"/>
                <a:sym typeface="Times New Roman"/>
              </a:rPr>
              <a:t>Are there any key differences in attendance between the upper and bottom 25th quartiles?</a:t>
            </a:r>
            <a:endParaRPr b="1" sz="1900">
              <a:solidFill>
                <a:schemeClr val="lt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lt1"/>
              </a:buClr>
              <a:buSzPts val="1900"/>
              <a:buFont typeface="Times New Roman"/>
              <a:buAutoNum type="arabicPeriod"/>
            </a:pPr>
            <a:r>
              <a:rPr b="1" lang="en" sz="1900">
                <a:solidFill>
                  <a:schemeClr val="lt1"/>
                </a:solidFill>
                <a:latin typeface="Times New Roman"/>
                <a:ea typeface="Times New Roman"/>
                <a:cs typeface="Times New Roman"/>
                <a:sym typeface="Times New Roman"/>
              </a:rPr>
              <a:t>After forecasting attendance to grade performance in the upper and bottom 25th quartiles, is there a significant difference?</a:t>
            </a:r>
            <a:endParaRPr b="1" sz="19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76200" y="888250"/>
            <a:ext cx="4941000" cy="3882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n" sz="2000"/>
              <a:t>Sex- </a:t>
            </a:r>
            <a:r>
              <a:rPr b="0" i="1" lang="en" sz="1900"/>
              <a:t>Female 1 Male 2</a:t>
            </a:r>
            <a:br>
              <a:rPr b="0" i="1" lang="en" sz="1900"/>
            </a:br>
            <a:r>
              <a:rPr lang="en" sz="2000"/>
              <a:t>School support- </a:t>
            </a:r>
            <a:r>
              <a:rPr b="0" i="1" lang="en" sz="1900"/>
              <a:t>Yes 1 No 2</a:t>
            </a:r>
            <a:r>
              <a:rPr b="0" lang="en" sz="2000"/>
              <a:t> </a:t>
            </a:r>
            <a:br>
              <a:rPr lang="en" sz="2000"/>
            </a:br>
            <a:r>
              <a:rPr lang="en" sz="2000"/>
              <a:t>Family support- </a:t>
            </a:r>
            <a:r>
              <a:rPr b="0" i="1" lang="en" sz="1900"/>
              <a:t>Yes 1 No 2</a:t>
            </a:r>
            <a:r>
              <a:rPr i="1" lang="en" sz="1900"/>
              <a:t> </a:t>
            </a:r>
            <a:br>
              <a:rPr i="1" lang="en" sz="1900"/>
            </a:br>
            <a:r>
              <a:rPr lang="en" sz="2000"/>
              <a:t>Activities- </a:t>
            </a:r>
            <a:r>
              <a:rPr b="0" i="1" lang="en" sz="1900"/>
              <a:t>Yes 1 No 2</a:t>
            </a:r>
            <a:br>
              <a:rPr i="1" lang="en" sz="1900"/>
            </a:br>
            <a:r>
              <a:rPr lang="en" sz="2000"/>
              <a:t>Travel time- </a:t>
            </a:r>
            <a:r>
              <a:rPr b="0" i="1" lang="en" sz="2000"/>
              <a:t>in hours</a:t>
            </a:r>
            <a:br>
              <a:rPr lang="en" sz="2000"/>
            </a:br>
            <a:r>
              <a:rPr lang="en" sz="2000"/>
              <a:t>Study time- </a:t>
            </a:r>
            <a:r>
              <a:rPr b="0" i="1" lang="en" sz="2000"/>
              <a:t>in hours</a:t>
            </a:r>
            <a:br>
              <a:rPr lang="en" sz="2000"/>
            </a:br>
            <a:r>
              <a:rPr lang="en" sz="2000"/>
              <a:t>Failures- </a:t>
            </a:r>
            <a:r>
              <a:rPr b="0" i="1" lang="en" sz="2000"/>
              <a:t>number of failures</a:t>
            </a:r>
            <a:br>
              <a:rPr lang="en" sz="2000"/>
            </a:br>
            <a:r>
              <a:rPr lang="en" sz="2000"/>
              <a:t>Health- </a:t>
            </a:r>
            <a:r>
              <a:rPr b="0" i="1" lang="en" sz="2000"/>
              <a:t>1-5 rating</a:t>
            </a:r>
            <a:br>
              <a:rPr lang="en" sz="2000"/>
            </a:br>
            <a:r>
              <a:rPr lang="en" sz="2000"/>
              <a:t>Absences- </a:t>
            </a:r>
            <a:r>
              <a:rPr b="0" i="1" lang="en" sz="2000"/>
              <a:t>number of absences</a:t>
            </a:r>
            <a:br>
              <a:rPr lang="en" sz="2000"/>
            </a:br>
            <a:r>
              <a:rPr lang="en" sz="2000"/>
              <a:t>Grades- </a:t>
            </a:r>
            <a:r>
              <a:rPr b="0" i="1" lang="en" sz="2000"/>
              <a:t>mean: 12; median: 12; mode:11</a:t>
            </a:r>
            <a:endParaRPr b="0" i="1" sz="2000"/>
          </a:p>
          <a:p>
            <a:pPr indent="0" lvl="0" marL="0" rtl="0" algn="l">
              <a:spcBef>
                <a:spcPts val="1200"/>
              </a:spcBef>
              <a:spcAft>
                <a:spcPts val="0"/>
              </a:spcAft>
              <a:buNone/>
            </a:pPr>
            <a:r>
              <a:t/>
            </a:r>
            <a:endParaRPr sz="2400"/>
          </a:p>
        </p:txBody>
      </p:sp>
      <p:sp>
        <p:nvSpPr>
          <p:cNvPr id="74" name="Google Shape;74;p15"/>
          <p:cNvSpPr txBox="1"/>
          <p:nvPr/>
        </p:nvSpPr>
        <p:spPr>
          <a:xfrm>
            <a:off x="233800" y="181750"/>
            <a:ext cx="8832300" cy="585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2600">
                <a:solidFill>
                  <a:schemeClr val="dk2"/>
                </a:solidFill>
                <a:latin typeface="Raleway"/>
                <a:ea typeface="Raleway"/>
                <a:cs typeface="Raleway"/>
                <a:sym typeface="Raleway"/>
              </a:rPr>
              <a:t>Our Cleaned </a:t>
            </a:r>
            <a:r>
              <a:rPr b="1" lang="en" sz="2600">
                <a:solidFill>
                  <a:schemeClr val="dk2"/>
                </a:solidFill>
                <a:latin typeface="Raleway"/>
                <a:ea typeface="Raleway"/>
                <a:cs typeface="Raleway"/>
                <a:sym typeface="Raleway"/>
              </a:rPr>
              <a:t>Dataset</a:t>
            </a:r>
            <a:endParaRPr b="1" sz="2600">
              <a:latin typeface="Raleway"/>
              <a:ea typeface="Raleway"/>
              <a:cs typeface="Raleway"/>
              <a:sym typeface="Raleway"/>
            </a:endParaRPr>
          </a:p>
        </p:txBody>
      </p:sp>
      <p:sp>
        <p:nvSpPr>
          <p:cNvPr id="75" name="Google Shape;75;p15"/>
          <p:cNvSpPr txBox="1"/>
          <p:nvPr/>
        </p:nvSpPr>
        <p:spPr>
          <a:xfrm>
            <a:off x="6592100" y="3740150"/>
            <a:ext cx="30891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latin typeface="Source Sans Pro"/>
                <a:ea typeface="Source Sans Pro"/>
                <a:cs typeface="Source Sans Pro"/>
                <a:sym typeface="Source Sans Pro"/>
              </a:rPr>
              <a:t>649 Rows 10 Columns</a:t>
            </a:r>
            <a:endParaRPr i="1" sz="1800">
              <a:solidFill>
                <a:schemeClr val="dk2"/>
              </a:solidFill>
              <a:latin typeface="Source Sans Pro"/>
              <a:ea typeface="Source Sans Pro"/>
              <a:cs typeface="Source Sans Pro"/>
              <a:sym typeface="Source Sans Pro"/>
            </a:endParaRPr>
          </a:p>
        </p:txBody>
      </p:sp>
      <p:pic>
        <p:nvPicPr>
          <p:cNvPr id="76" name="Google Shape;76;p15"/>
          <p:cNvPicPr preferRelativeResize="0"/>
          <p:nvPr/>
        </p:nvPicPr>
        <p:blipFill>
          <a:blip r:embed="rId3">
            <a:alphaModFix/>
          </a:blip>
          <a:stretch>
            <a:fillRect/>
          </a:stretch>
        </p:blipFill>
        <p:spPr>
          <a:xfrm>
            <a:off x="3747050" y="888250"/>
            <a:ext cx="5027025" cy="28017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636900" y="2618750"/>
            <a:ext cx="7870176" cy="2157175"/>
          </a:xfrm>
          <a:prstGeom prst="rect">
            <a:avLst/>
          </a:prstGeom>
          <a:noFill/>
          <a:ln>
            <a:noFill/>
          </a:ln>
        </p:spPr>
      </p:pic>
      <p:pic>
        <p:nvPicPr>
          <p:cNvPr id="82" name="Google Shape;82;p16"/>
          <p:cNvPicPr preferRelativeResize="0"/>
          <p:nvPr/>
        </p:nvPicPr>
        <p:blipFill>
          <a:blip r:embed="rId4">
            <a:alphaModFix/>
          </a:blip>
          <a:stretch>
            <a:fillRect/>
          </a:stretch>
        </p:blipFill>
        <p:spPr>
          <a:xfrm>
            <a:off x="2916763" y="1293346"/>
            <a:ext cx="5590325" cy="1113004"/>
          </a:xfrm>
          <a:prstGeom prst="rect">
            <a:avLst/>
          </a:prstGeom>
          <a:noFill/>
          <a:ln>
            <a:noFill/>
          </a:ln>
        </p:spPr>
      </p:pic>
      <p:pic>
        <p:nvPicPr>
          <p:cNvPr id="83" name="Google Shape;83;p16"/>
          <p:cNvPicPr preferRelativeResize="0"/>
          <p:nvPr/>
        </p:nvPicPr>
        <p:blipFill>
          <a:blip r:embed="rId5">
            <a:alphaModFix/>
          </a:blip>
          <a:stretch>
            <a:fillRect/>
          </a:stretch>
        </p:blipFill>
        <p:spPr>
          <a:xfrm>
            <a:off x="636913" y="367550"/>
            <a:ext cx="2279855" cy="2106900"/>
          </a:xfrm>
          <a:prstGeom prst="rect">
            <a:avLst/>
          </a:prstGeom>
          <a:noFill/>
          <a:ln>
            <a:noFill/>
          </a:ln>
        </p:spPr>
      </p:pic>
      <p:sp>
        <p:nvSpPr>
          <p:cNvPr id="84" name="Google Shape;84;p16"/>
          <p:cNvSpPr txBox="1"/>
          <p:nvPr/>
        </p:nvSpPr>
        <p:spPr>
          <a:xfrm>
            <a:off x="3586600" y="181750"/>
            <a:ext cx="88323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2600">
                <a:solidFill>
                  <a:schemeClr val="dk2"/>
                </a:solidFill>
                <a:latin typeface="Raleway"/>
                <a:ea typeface="Raleway"/>
                <a:cs typeface="Raleway"/>
                <a:sym typeface="Raleway"/>
              </a:rPr>
              <a:t>Multiple Regression Analysis</a:t>
            </a:r>
            <a:endParaRPr b="1" sz="2600">
              <a:solidFill>
                <a:schemeClr val="dk2"/>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rotWithShape="1">
          <a:blip r:embed="rId3">
            <a:alphaModFix/>
          </a:blip>
          <a:srcRect b="2565" l="1459" r="1254" t="2422"/>
          <a:stretch/>
        </p:blipFill>
        <p:spPr>
          <a:xfrm>
            <a:off x="83125" y="934825"/>
            <a:ext cx="6268874" cy="3801926"/>
          </a:xfrm>
          <a:prstGeom prst="rect">
            <a:avLst/>
          </a:prstGeom>
          <a:noFill/>
          <a:ln>
            <a:noFill/>
          </a:ln>
        </p:spPr>
      </p:pic>
      <p:sp>
        <p:nvSpPr>
          <p:cNvPr id="90" name="Google Shape;90;p17"/>
          <p:cNvSpPr txBox="1"/>
          <p:nvPr/>
        </p:nvSpPr>
        <p:spPr>
          <a:xfrm>
            <a:off x="6352000" y="899700"/>
            <a:ext cx="2845200" cy="41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ource Sans Pro"/>
                <a:ea typeface="Source Sans Pro"/>
                <a:cs typeface="Source Sans Pro"/>
                <a:sym typeface="Source Sans Pro"/>
              </a:rPr>
              <a:t>These six plots show a relatively random scatter of residuals around zero with no strong patterns.</a:t>
            </a:r>
            <a:endParaRPr sz="1800">
              <a:solidFill>
                <a:schemeClr val="dk2"/>
              </a:solidFill>
              <a:latin typeface="Source Sans Pro"/>
              <a:ea typeface="Source Sans Pro"/>
              <a:cs typeface="Source Sans Pro"/>
              <a:sym typeface="Source Sans Pro"/>
            </a:endParaRPr>
          </a:p>
          <a:p>
            <a:pPr indent="0" lvl="0" marL="0" rtl="0" algn="l">
              <a:spcBef>
                <a:spcPts val="1000"/>
              </a:spcBef>
              <a:spcAft>
                <a:spcPts val="1000"/>
              </a:spcAft>
              <a:buNone/>
            </a:pPr>
            <a:r>
              <a:rPr lang="en" sz="1800">
                <a:solidFill>
                  <a:schemeClr val="dk2"/>
                </a:solidFill>
                <a:latin typeface="Source Sans Pro"/>
                <a:ea typeface="Source Sans Pro"/>
                <a:cs typeface="Source Sans Pro"/>
                <a:sym typeface="Source Sans Pro"/>
              </a:rPr>
              <a:t>This indicates that the model likely fits the data reasonably well, and there is no clear indication of non-linearity or heteroscedasticity that would require corrections.</a:t>
            </a:r>
            <a:endParaRPr sz="1800">
              <a:solidFill>
                <a:schemeClr val="dk2"/>
              </a:solidFill>
              <a:latin typeface="Source Sans Pro"/>
              <a:ea typeface="Source Sans Pro"/>
              <a:cs typeface="Source Sans Pro"/>
              <a:sym typeface="Source Sans Pro"/>
            </a:endParaRPr>
          </a:p>
        </p:txBody>
      </p:sp>
      <p:sp>
        <p:nvSpPr>
          <p:cNvPr id="91" name="Google Shape;91;p17"/>
          <p:cNvSpPr txBox="1"/>
          <p:nvPr/>
        </p:nvSpPr>
        <p:spPr>
          <a:xfrm>
            <a:off x="208775" y="142800"/>
            <a:ext cx="8832300" cy="5850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2600">
                <a:solidFill>
                  <a:schemeClr val="dk2"/>
                </a:solidFill>
                <a:latin typeface="Raleway"/>
                <a:ea typeface="Raleway"/>
                <a:cs typeface="Raleway"/>
                <a:sym typeface="Raleway"/>
              </a:rPr>
              <a:t>Residual Plot Analysis</a:t>
            </a:r>
            <a:endParaRPr b="1" sz="2600">
              <a:solidFill>
                <a:schemeClr val="dk2"/>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250900" y="1106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Failure</a:t>
            </a:r>
            <a:r>
              <a:rPr lang="en"/>
              <a:t> Having An Impact On Grades</a:t>
            </a:r>
            <a:endParaRPr/>
          </a:p>
        </p:txBody>
      </p:sp>
      <p:pic>
        <p:nvPicPr>
          <p:cNvPr id="97" name="Google Shape;97;p18"/>
          <p:cNvPicPr preferRelativeResize="0"/>
          <p:nvPr/>
        </p:nvPicPr>
        <p:blipFill>
          <a:blip r:embed="rId3">
            <a:alphaModFix/>
          </a:blip>
          <a:stretch>
            <a:fillRect/>
          </a:stretch>
        </p:blipFill>
        <p:spPr>
          <a:xfrm>
            <a:off x="5254200" y="3767200"/>
            <a:ext cx="3065900" cy="801675"/>
          </a:xfrm>
          <a:prstGeom prst="rect">
            <a:avLst/>
          </a:prstGeom>
          <a:noFill/>
          <a:ln>
            <a:noFill/>
          </a:ln>
        </p:spPr>
      </p:pic>
      <p:pic>
        <p:nvPicPr>
          <p:cNvPr id="98" name="Google Shape;98;p18"/>
          <p:cNvPicPr preferRelativeResize="0"/>
          <p:nvPr/>
        </p:nvPicPr>
        <p:blipFill rotWithShape="1">
          <a:blip r:embed="rId4">
            <a:alphaModFix/>
          </a:blip>
          <a:srcRect b="0" l="0" r="8900" t="0"/>
          <a:stretch/>
        </p:blipFill>
        <p:spPr>
          <a:xfrm>
            <a:off x="199900" y="629400"/>
            <a:ext cx="4419624" cy="4375874"/>
          </a:xfrm>
          <a:prstGeom prst="rect">
            <a:avLst/>
          </a:prstGeom>
          <a:noFill/>
          <a:ln>
            <a:noFill/>
          </a:ln>
        </p:spPr>
      </p:pic>
      <p:sp>
        <p:nvSpPr>
          <p:cNvPr id="99" name="Google Shape;99;p18"/>
          <p:cNvSpPr txBox="1"/>
          <p:nvPr/>
        </p:nvSpPr>
        <p:spPr>
          <a:xfrm>
            <a:off x="4943200" y="1152475"/>
            <a:ext cx="3687900" cy="2692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000"/>
              </a:spcBef>
              <a:spcAft>
                <a:spcPts val="1000"/>
              </a:spcAft>
              <a:buNone/>
            </a:pPr>
            <a:r>
              <a:rPr lang="en" sz="1800">
                <a:solidFill>
                  <a:schemeClr val="dk2"/>
                </a:solidFill>
                <a:highlight>
                  <a:srgbClr val="FFFFFF"/>
                </a:highlight>
                <a:latin typeface="Source Sans Pro"/>
                <a:ea typeface="Source Sans Pro"/>
                <a:cs typeface="Source Sans Pro"/>
                <a:sym typeface="Source Sans Pro"/>
              </a:rPr>
              <a:t>Comparatively</a:t>
            </a:r>
            <a:r>
              <a:rPr lang="en" sz="1800">
                <a:solidFill>
                  <a:schemeClr val="dk2"/>
                </a:solidFill>
                <a:highlight>
                  <a:srgbClr val="FFFFFF"/>
                </a:highlight>
                <a:latin typeface="Source Sans Pro"/>
                <a:ea typeface="Source Sans Pro"/>
                <a:cs typeface="Source Sans Pro"/>
                <a:sym typeface="Source Sans Pro"/>
              </a:rPr>
              <a:t> to other factors </a:t>
            </a:r>
            <a:r>
              <a:rPr lang="en" sz="1800">
                <a:solidFill>
                  <a:schemeClr val="dk2"/>
                </a:solidFill>
                <a:highlight>
                  <a:srgbClr val="FFFFFF"/>
                </a:highlight>
                <a:latin typeface="Source Sans Pro"/>
                <a:ea typeface="Source Sans Pro"/>
                <a:cs typeface="Source Sans Pro"/>
                <a:sym typeface="Source Sans Pro"/>
              </a:rPr>
              <a:t>Failures had the strongest negative correlation. Our trendline shows that students who failed at least once do not receive top scores, and the top score drops as there are more failures.</a:t>
            </a:r>
            <a:endParaRPr sz="1800">
              <a:solidFill>
                <a:schemeClr val="dk2"/>
              </a:solidFill>
              <a:highlight>
                <a:srgbClr val="FFFFFF"/>
              </a:highlight>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5480300" y="208925"/>
            <a:ext cx="3420300" cy="47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42307"/>
              <a:buFont typeface="Arial"/>
              <a:buNone/>
            </a:pPr>
            <a:r>
              <a:rPr lang="en" sz="2600"/>
              <a:t>Time Travel  &amp; Grades</a:t>
            </a:r>
            <a:endParaRPr/>
          </a:p>
        </p:txBody>
      </p:sp>
      <p:sp>
        <p:nvSpPr>
          <p:cNvPr id="105" name="Google Shape;105;p19"/>
          <p:cNvSpPr txBox="1"/>
          <p:nvPr/>
        </p:nvSpPr>
        <p:spPr>
          <a:xfrm>
            <a:off x="92900" y="154025"/>
            <a:ext cx="41910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2600">
                <a:solidFill>
                  <a:schemeClr val="dk2"/>
                </a:solidFill>
                <a:latin typeface="Raleway"/>
                <a:ea typeface="Raleway"/>
                <a:cs typeface="Raleway"/>
                <a:sym typeface="Raleway"/>
              </a:rPr>
              <a:t>School Support &amp; Grades</a:t>
            </a:r>
            <a:endParaRPr b="1" sz="2600">
              <a:solidFill>
                <a:schemeClr val="dk2"/>
              </a:solidFill>
              <a:latin typeface="Raleway"/>
              <a:ea typeface="Raleway"/>
              <a:cs typeface="Raleway"/>
              <a:sym typeface="Raleway"/>
            </a:endParaRPr>
          </a:p>
        </p:txBody>
      </p:sp>
      <p:pic>
        <p:nvPicPr>
          <p:cNvPr id="106" name="Google Shape;106;p19"/>
          <p:cNvPicPr preferRelativeResize="0"/>
          <p:nvPr/>
        </p:nvPicPr>
        <p:blipFill>
          <a:blip r:embed="rId3">
            <a:alphaModFix/>
          </a:blip>
          <a:stretch>
            <a:fillRect/>
          </a:stretch>
        </p:blipFill>
        <p:spPr>
          <a:xfrm>
            <a:off x="0" y="739050"/>
            <a:ext cx="4523702" cy="3364650"/>
          </a:xfrm>
          <a:prstGeom prst="rect">
            <a:avLst/>
          </a:prstGeom>
          <a:noFill/>
          <a:ln>
            <a:noFill/>
          </a:ln>
        </p:spPr>
      </p:pic>
      <p:pic>
        <p:nvPicPr>
          <p:cNvPr id="107" name="Google Shape;107;p19"/>
          <p:cNvPicPr preferRelativeResize="0"/>
          <p:nvPr/>
        </p:nvPicPr>
        <p:blipFill rotWithShape="1">
          <a:blip r:embed="rId4">
            <a:alphaModFix/>
          </a:blip>
          <a:srcRect b="0" l="0" r="0" t="17776"/>
          <a:stretch/>
        </p:blipFill>
        <p:spPr>
          <a:xfrm>
            <a:off x="315213" y="4225225"/>
            <a:ext cx="3746375" cy="765725"/>
          </a:xfrm>
          <a:prstGeom prst="rect">
            <a:avLst/>
          </a:prstGeom>
          <a:noFill/>
          <a:ln>
            <a:noFill/>
          </a:ln>
        </p:spPr>
      </p:pic>
      <p:pic>
        <p:nvPicPr>
          <p:cNvPr id="108" name="Google Shape;108;p19"/>
          <p:cNvPicPr preferRelativeResize="0"/>
          <p:nvPr/>
        </p:nvPicPr>
        <p:blipFill>
          <a:blip r:embed="rId5">
            <a:alphaModFix/>
          </a:blip>
          <a:stretch>
            <a:fillRect/>
          </a:stretch>
        </p:blipFill>
        <p:spPr>
          <a:xfrm>
            <a:off x="4620300" y="739050"/>
            <a:ext cx="4523700" cy="3486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nvSpPr>
        <p:spPr>
          <a:xfrm>
            <a:off x="155850" y="181750"/>
            <a:ext cx="88323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2600">
                <a:solidFill>
                  <a:schemeClr val="dk2"/>
                </a:solidFill>
                <a:latin typeface="Raleway"/>
                <a:ea typeface="Raleway"/>
                <a:cs typeface="Raleway"/>
                <a:sym typeface="Raleway"/>
              </a:rPr>
              <a:t>Multiple Regression &amp; Correlation Analysis in AI</a:t>
            </a:r>
            <a:endParaRPr b="1" sz="2600">
              <a:solidFill>
                <a:schemeClr val="dk2"/>
              </a:solidFill>
              <a:latin typeface="Raleway"/>
              <a:ea typeface="Raleway"/>
              <a:cs typeface="Raleway"/>
              <a:sym typeface="Raleway"/>
            </a:endParaRPr>
          </a:p>
        </p:txBody>
      </p:sp>
      <p:pic>
        <p:nvPicPr>
          <p:cNvPr id="114" name="Google Shape;114;p20"/>
          <p:cNvPicPr preferRelativeResize="0"/>
          <p:nvPr/>
        </p:nvPicPr>
        <p:blipFill rotWithShape="1">
          <a:blip r:embed="rId3">
            <a:alphaModFix/>
          </a:blip>
          <a:srcRect b="3962" l="5688" r="10776" t="8171"/>
          <a:stretch/>
        </p:blipFill>
        <p:spPr>
          <a:xfrm>
            <a:off x="4572000" y="1080263"/>
            <a:ext cx="4537527" cy="3275451"/>
          </a:xfrm>
          <a:prstGeom prst="rect">
            <a:avLst/>
          </a:prstGeom>
          <a:noFill/>
          <a:ln>
            <a:noFill/>
          </a:ln>
        </p:spPr>
      </p:pic>
      <p:pic>
        <p:nvPicPr>
          <p:cNvPr id="115" name="Google Shape;115;p20"/>
          <p:cNvPicPr preferRelativeResize="0"/>
          <p:nvPr/>
        </p:nvPicPr>
        <p:blipFill>
          <a:blip r:embed="rId4">
            <a:alphaModFix/>
          </a:blip>
          <a:stretch>
            <a:fillRect/>
          </a:stretch>
        </p:blipFill>
        <p:spPr>
          <a:xfrm>
            <a:off x="0" y="989298"/>
            <a:ext cx="4537523" cy="34573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80150" y="1730725"/>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Recommendations</a:t>
            </a:r>
            <a:endParaRPr/>
          </a:p>
        </p:txBody>
      </p:sp>
      <p:sp>
        <p:nvSpPr>
          <p:cNvPr id="121" name="Google Shape;121;p21"/>
          <p:cNvSpPr txBox="1"/>
          <p:nvPr/>
        </p:nvSpPr>
        <p:spPr>
          <a:xfrm>
            <a:off x="197250" y="2683575"/>
            <a:ext cx="8749500" cy="22812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lt1"/>
              </a:buClr>
              <a:buSzPts val="1200"/>
              <a:buFont typeface="Times New Roman"/>
              <a:buAutoNum type="arabicPeriod"/>
            </a:pPr>
            <a:r>
              <a:rPr b="1" lang="en" sz="1200" u="sng">
                <a:solidFill>
                  <a:schemeClr val="lt1"/>
                </a:solidFill>
                <a:latin typeface="Raleway"/>
                <a:ea typeface="Raleway"/>
                <a:cs typeface="Raleway"/>
                <a:sym typeface="Raleway"/>
              </a:rPr>
              <a:t>Support After Failure</a:t>
            </a:r>
            <a:r>
              <a:rPr lang="en" sz="1200" u="sng">
                <a:solidFill>
                  <a:schemeClr val="lt1"/>
                </a:solidFill>
                <a:latin typeface="Raleway"/>
                <a:ea typeface="Raleway"/>
                <a:cs typeface="Raleway"/>
                <a:sym typeface="Raleway"/>
              </a:rPr>
              <a:t>:</a:t>
            </a:r>
            <a:r>
              <a:rPr lang="en" sz="1200">
                <a:solidFill>
                  <a:schemeClr val="lt1"/>
                </a:solidFill>
                <a:latin typeface="Raleway"/>
                <a:ea typeface="Raleway"/>
                <a:cs typeface="Raleway"/>
                <a:sym typeface="Raleway"/>
              </a:rPr>
              <a:t> Allocate extra resources for students who fail in the first quarter to ensure they get the help they need in the second quarter. This can help them catch up and prevent them from falling further behind.</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Times New Roman"/>
              <a:buAutoNum type="arabicPeriod"/>
            </a:pPr>
            <a:r>
              <a:rPr b="1" lang="en" sz="1200" u="sng">
                <a:solidFill>
                  <a:schemeClr val="lt1"/>
                </a:solidFill>
                <a:latin typeface="Raleway"/>
                <a:ea typeface="Raleway"/>
                <a:cs typeface="Raleway"/>
                <a:sym typeface="Raleway"/>
              </a:rPr>
              <a:t>Extra School Support</a:t>
            </a:r>
            <a:r>
              <a:rPr lang="en" sz="1200" u="sng">
                <a:solidFill>
                  <a:schemeClr val="lt1"/>
                </a:solidFill>
                <a:latin typeface="Raleway"/>
                <a:ea typeface="Raleway"/>
                <a:cs typeface="Raleway"/>
                <a:sym typeface="Raleway"/>
              </a:rPr>
              <a:t>: </a:t>
            </a:r>
            <a:r>
              <a:rPr lang="en" sz="1200">
                <a:solidFill>
                  <a:schemeClr val="lt1"/>
                </a:solidFill>
                <a:latin typeface="Raleway"/>
                <a:ea typeface="Raleway"/>
                <a:cs typeface="Raleway"/>
                <a:sym typeface="Raleway"/>
              </a:rPr>
              <a:t>Providing additional support through in-school study programs can have a significant positive impact on grades. Schools should invest in tutoring programs and support services to assist struggling students.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Times New Roman"/>
              <a:buAutoNum type="arabicPeriod"/>
            </a:pPr>
            <a:r>
              <a:rPr b="1" lang="en" sz="1200" u="sng">
                <a:solidFill>
                  <a:schemeClr val="lt1"/>
                </a:solidFill>
                <a:latin typeface="Raleway"/>
                <a:ea typeface="Raleway"/>
                <a:cs typeface="Raleway"/>
                <a:sym typeface="Raleway"/>
              </a:rPr>
              <a:t>Improved School Access</a:t>
            </a:r>
            <a:r>
              <a:rPr lang="en" sz="1200" u="sng">
                <a:solidFill>
                  <a:schemeClr val="lt1"/>
                </a:solidFill>
                <a:latin typeface="Raleway"/>
                <a:ea typeface="Raleway"/>
                <a:cs typeface="Raleway"/>
                <a:sym typeface="Raleway"/>
              </a:rPr>
              <a:t>:</a:t>
            </a:r>
            <a:r>
              <a:rPr lang="en" sz="1200">
                <a:solidFill>
                  <a:schemeClr val="lt1"/>
                </a:solidFill>
                <a:latin typeface="Raleway"/>
                <a:ea typeface="Raleway"/>
                <a:cs typeface="Raleway"/>
                <a:sym typeface="Raleway"/>
              </a:rPr>
              <a:t> Partner with local transportation agencies or provide a school bus to improve access to schools can help reduce the negative impact of long commutes on student performance.</a:t>
            </a:r>
            <a:endParaRPr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Times New Roman"/>
              <a:buAutoNum type="arabicPeriod"/>
            </a:pPr>
            <a:r>
              <a:rPr b="1" lang="en" sz="1200" u="sng">
                <a:solidFill>
                  <a:schemeClr val="lt1"/>
                </a:solidFill>
                <a:latin typeface="Raleway"/>
                <a:ea typeface="Raleway"/>
                <a:cs typeface="Raleway"/>
                <a:sym typeface="Raleway"/>
              </a:rPr>
              <a:t>Flexible Hybrid Learning Model</a:t>
            </a:r>
            <a:r>
              <a:rPr lang="en" sz="1200" u="sng">
                <a:solidFill>
                  <a:schemeClr val="lt1"/>
                </a:solidFill>
                <a:latin typeface="Raleway"/>
                <a:ea typeface="Raleway"/>
                <a:cs typeface="Raleway"/>
                <a:sym typeface="Raleway"/>
              </a:rPr>
              <a:t>: </a:t>
            </a:r>
            <a:r>
              <a:rPr lang="en" sz="1200">
                <a:solidFill>
                  <a:schemeClr val="lt1"/>
                </a:solidFill>
                <a:latin typeface="Raleway"/>
                <a:ea typeface="Raleway"/>
                <a:cs typeface="Raleway"/>
                <a:sym typeface="Raleway"/>
              </a:rPr>
              <a:t>For students with a commute time of four hours or more, a hybrid learning model may help alleviate some of the challenges related to travel and give them more time to focus on their studies</a:t>
            </a:r>
            <a:endParaRPr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Times New Roman"/>
              <a:buAutoNum type="arabicPeriod"/>
            </a:pPr>
            <a:r>
              <a:rPr b="1" lang="en" sz="1200" u="sng">
                <a:solidFill>
                  <a:schemeClr val="lt1"/>
                </a:solidFill>
                <a:latin typeface="Raleway"/>
                <a:ea typeface="Raleway"/>
                <a:cs typeface="Raleway"/>
                <a:sym typeface="Raleway"/>
              </a:rPr>
              <a:t>Top 25 quartile</a:t>
            </a:r>
            <a:r>
              <a:rPr lang="en" sz="1200">
                <a:solidFill>
                  <a:schemeClr val="lt1"/>
                </a:solidFill>
                <a:latin typeface="Raleway"/>
                <a:ea typeface="Raleway"/>
                <a:cs typeface="Raleway"/>
                <a:sym typeface="Raleway"/>
              </a:rPr>
              <a:t> of grades students had less failure, and lower travel time compared to the bottom 25 quartile</a:t>
            </a:r>
            <a:endParaRPr b="1" sz="1200">
              <a:solidFill>
                <a:schemeClr val="lt1"/>
              </a:solidFill>
              <a:latin typeface="Raleway"/>
              <a:ea typeface="Raleway"/>
              <a:cs typeface="Raleway"/>
              <a:sym typeface="Raleway"/>
            </a:endParaRPr>
          </a:p>
        </p:txBody>
      </p:sp>
      <p:pic>
        <p:nvPicPr>
          <p:cNvPr id="122" name="Google Shape;122;p21"/>
          <p:cNvPicPr preferRelativeResize="0"/>
          <p:nvPr/>
        </p:nvPicPr>
        <p:blipFill>
          <a:blip r:embed="rId3">
            <a:alphaModFix/>
          </a:blip>
          <a:stretch>
            <a:fillRect/>
          </a:stretch>
        </p:blipFill>
        <p:spPr>
          <a:xfrm>
            <a:off x="4371325" y="23025"/>
            <a:ext cx="4772675" cy="26028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